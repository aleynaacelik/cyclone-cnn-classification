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267" r:id="rId3"/>
    <p:sldId id="257" r:id="rId4"/>
    <p:sldId id="258" r:id="rId5"/>
    <p:sldId id="259" r:id="rId6"/>
    <p:sldId id="260" r:id="rId7"/>
    <p:sldId id="268" r:id="rId8"/>
    <p:sldId id="261" r:id="rId9"/>
    <p:sldId id="270" r:id="rId10"/>
    <p:sldId id="263" r:id="rId11"/>
    <p:sldId id="269" r:id="rId12"/>
    <p:sldId id="262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59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4049D-DC22-4D37-BBC5-0861AD0497C2}" type="datetimeFigureOut">
              <a:rPr lang="tr-TR" smtClean="0"/>
              <a:t>22.12.2025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3A9EF-D191-462F-A944-375BDE1534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731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AD681-9AF6-4544-A15F-E2CB6D9B76ED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55CF2-33BA-49E1-ABBB-2A49890EDA7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0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C3E82-0607-40DC-9E41-0F4418AF2866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8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EE2F6-14E8-49C8-8EC9-3EC4F25B5686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5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D0C9-C14F-49E2-B7AD-63F718A05BDD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3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5015-4082-4923-B0F8-4756166DE832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5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4F70-0AAD-4C89-A233-43BFC977274B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7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8B221-54F5-4E3C-94A0-647D8FBF179B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1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2FF7-B419-4A3E-8CBE-7174B3C90422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8CA-6659-4FBD-A1FF-D88E963903BD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8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D0013-B4F3-4F3D-9F98-F3D515386E33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0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564B1-6D5E-4EB5-8462-E6B8B9950F7B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9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6071" y="1371600"/>
            <a:ext cx="194155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rPr lang="tr-TR" dirty="0" smtClean="0"/>
              <a:t>    </a:t>
            </a:r>
            <a:r>
              <a:rPr dirty="0" smtClean="0"/>
              <a:t>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AKDENİZ YARIMDURAN SİKLONLARININ</a:t>
            </a:r>
            <a:br>
              <a:rPr dirty="0">
                <a:solidFill>
                  <a:schemeClr val="accent1"/>
                </a:solidFill>
              </a:rPr>
            </a:br>
            <a:r>
              <a:rPr dirty="0">
                <a:solidFill>
                  <a:schemeClr val="accent1"/>
                </a:solidFill>
              </a:rPr>
              <a:t>CNN İLE DURAĞANLIK SINIFLANDIRMASI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1145" y="5201728"/>
            <a:ext cx="312643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Aleyna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Çelik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dirty="0">
                <a:solidFill>
                  <a:schemeClr val="accent1">
                    <a:lumMod val="50000"/>
                  </a:schemeClr>
                </a:solidFill>
              </a:rPr>
            </a:b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Derin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Öğrenme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Dersi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| 2025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havadurumuuzun.com/img/015/tropikal_siklonl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886" y="608485"/>
            <a:ext cx="3798597" cy="213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iklon Nedir, Nasıl Oluşur? Siklonların Etkileri Ve Bilimsel Araştırmalar -  Gazete Haberler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61" y="608485"/>
            <a:ext cx="3753694" cy="21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Türkiye'ye Gelen Siklon Dalgası: Nedir, Ne Zaman Bitecek, Etkileri Neler? -  Maraş Haberleri – Son Dakika &amp;amp; Kahramanmaraş Güncel Haber"/>
          <p:cNvSpPr>
            <a:spLocks noChangeAspect="1" noChangeArrowheads="1"/>
          </p:cNvSpPr>
          <p:nvPr/>
        </p:nvSpPr>
        <p:spPr bwMode="auto">
          <a:xfrm>
            <a:off x="307974" y="7937"/>
            <a:ext cx="1950033" cy="195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6" name="AutoShape 10" descr="Siklon Dalgası Türkiye'ye Geliyor: İstanbul ve Kıyı Kentleri İçin Kritik  Saat | Gazete Papalin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7" name="AutoShape 12" descr="https://gazetepapalina.com.tr/wp-content/uploads/IMG_373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86" y="3278204"/>
            <a:ext cx="3638939" cy="2351804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61" y="3278204"/>
            <a:ext cx="3828627" cy="2351804"/>
          </a:xfrm>
          <a:prstGeom prst="rect">
            <a:avLst/>
          </a:prstGeom>
        </p:spPr>
      </p:pic>
      <p:sp>
        <p:nvSpPr>
          <p:cNvPr id="10" name="Slayt Numarası Yer Tutucus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1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rPr dirty="0"/>
              <a:t>PROBLEM VE AMAÇ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32F2F"/>
                </a:solidFill>
              </a:defRPr>
            </a:pPr>
            <a:r>
              <a:t>🌍 Akdeniz Siklonları</a:t>
            </a:r>
          </a:p>
          <a:p>
            <a:pPr>
              <a:defRPr sz="1400"/>
            </a:pPr>
            <a:r>
              <a:t>• Aşırı hava olaylarının kaynağı</a:t>
            </a:r>
          </a:p>
          <a:p>
            <a:pPr>
              <a:defRPr sz="1400"/>
            </a:pPr>
            <a:r>
              <a:t>• Sel, fırtına, aşırı yağış</a:t>
            </a:r>
          </a:p>
          <a:p>
            <a:pPr>
              <a:defRPr sz="1400"/>
            </a:pPr>
            <a:r>
              <a:t>• Milyonlarca insanı etkiliyor</a:t>
            </a:r>
          </a:p>
          <a:p>
            <a:pPr>
              <a:defRPr sz="1400"/>
            </a:pPr>
            <a:r>
              <a:t>• Erken tespit kritik</a:t>
            </a:r>
          </a:p>
          <a:p>
            <a:pPr>
              <a:defRPr sz="1400"/>
            </a:pPr>
            <a:endParaRPr/>
          </a:p>
          <a:p>
            <a:pPr>
              <a:defRPr sz="1800" b="1">
                <a:solidFill>
                  <a:srgbClr val="D32F2F"/>
                </a:solidFill>
              </a:defRPr>
            </a:pPr>
            <a:r>
              <a:t>❓ Zorluk</a:t>
            </a:r>
          </a:p>
          <a:p>
            <a:pPr>
              <a:defRPr sz="1400"/>
            </a:pPr>
            <a:r>
              <a:t>• Geleneksel yöntemler yavaş</a:t>
            </a:r>
          </a:p>
          <a:p>
            <a:pPr>
              <a:defRPr sz="1400"/>
            </a:pPr>
            <a:r>
              <a:t>• Düşük doğruluk oranları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t>💡 Çözümümüz</a:t>
            </a:r>
          </a:p>
          <a:p>
            <a:pPr>
              <a:defRPr sz="1400"/>
            </a:pPr>
            <a:r>
              <a:t>• Siklon verilerini görsele dönüştürme</a:t>
            </a:r>
          </a:p>
          <a:p>
            <a:pPr>
              <a:defRPr sz="1400"/>
            </a:pPr>
            <a:r>
              <a:t>• CNN ile otomatik sınıflandırma</a:t>
            </a:r>
          </a:p>
          <a:p>
            <a:pPr>
              <a:defRPr sz="1400"/>
            </a:pPr>
            <a:r>
              <a:t>• Hızlı ve doğru tahmin</a:t>
            </a:r>
          </a:p>
          <a:p>
            <a:pPr>
              <a:defRPr sz="1400"/>
            </a:pPr>
            <a:endParaRPr/>
          </a:p>
          <a:p>
            <a:pPr>
              <a:defRPr sz="2000" b="1">
                <a:solidFill>
                  <a:srgbClr val="FF6F00"/>
                </a:solidFill>
              </a:defRPr>
            </a:pPr>
            <a:r>
              <a:t>🎯 HEDEF</a:t>
            </a:r>
          </a:p>
          <a:p>
            <a:pPr>
              <a:defRPr sz="1400"/>
            </a:pPr>
            <a:r>
              <a:t>Durağanlık seviyesini tahmin etmek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YAKLAŞIM: VERİDEN MODELE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t>📊</a:t>
            </a:r>
            <a:br/>
            <a:r>
              <a:t>CSV</a:t>
            </a:r>
          </a:p>
          <a:p>
            <a:pPr algn="ctr">
              <a:defRPr sz="1200"/>
            </a:pPr>
            <a:r>
              <a:t>2,377 siklon</a:t>
            </a:r>
            <a:br/>
            <a:r>
              <a:t>Konum, basınç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t>🎨</a:t>
            </a:r>
            <a:br/>
            <a:r>
              <a:t>GÖRSEL</a:t>
            </a:r>
          </a:p>
          <a:p>
            <a:pPr algn="ctr">
              <a:defRPr sz="1200"/>
            </a:pPr>
            <a:r>
              <a:t>128×128 RGB</a:t>
            </a:r>
            <a:br/>
            <a:r>
              <a:t>956 görsel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t>🤖</a:t>
            </a:r>
            <a:br/>
            <a:r>
              <a:t>CNN</a:t>
            </a:r>
          </a:p>
          <a:p>
            <a:pPr algn="ctr">
              <a:defRPr sz="1200"/>
            </a:pPr>
            <a:r>
              <a:t>Convolutional</a:t>
            </a:r>
            <a:br/>
            <a:r>
              <a:t>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/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/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672" y="3944983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 dirty="0"/>
              <a:t>📌 </a:t>
            </a:r>
            <a:r>
              <a:rPr dirty="0" err="1"/>
              <a:t>İki</a:t>
            </a:r>
            <a:r>
              <a:rPr dirty="0"/>
              <a:t> </a:t>
            </a:r>
            <a:r>
              <a:rPr dirty="0" err="1"/>
              <a:t>Yaklaşım</a:t>
            </a:r>
            <a:r>
              <a:rPr dirty="0"/>
              <a:t> </a:t>
            </a:r>
            <a:r>
              <a:rPr dirty="0" err="1"/>
              <a:t>Denendi</a:t>
            </a:r>
            <a:endParaRPr dirty="0"/>
          </a:p>
          <a:p>
            <a:pPr algn="ctr">
              <a:defRPr sz="1300"/>
            </a:pPr>
            <a:r>
              <a:rPr dirty="0"/>
              <a:t>1. İlk </a:t>
            </a:r>
            <a:r>
              <a:rPr dirty="0" err="1"/>
              <a:t>Deneme</a:t>
            </a:r>
            <a:r>
              <a:rPr dirty="0"/>
              <a:t>: 4 </a:t>
            </a:r>
            <a:r>
              <a:rPr dirty="0" err="1"/>
              <a:t>Sınıf</a:t>
            </a:r>
            <a:r>
              <a:rPr dirty="0"/>
              <a:t> (10, 21, 31, 40 km/h)  |  2. </a:t>
            </a:r>
            <a:r>
              <a:rPr dirty="0" err="1"/>
              <a:t>İkinci</a:t>
            </a:r>
            <a:r>
              <a:rPr dirty="0"/>
              <a:t> </a:t>
            </a:r>
            <a:r>
              <a:rPr dirty="0" err="1"/>
              <a:t>Deneme</a:t>
            </a:r>
            <a:r>
              <a:rPr dirty="0"/>
              <a:t>: Binary (</a:t>
            </a:r>
            <a:r>
              <a:rPr dirty="0" err="1"/>
              <a:t>Yavaş</a:t>
            </a:r>
            <a:r>
              <a:rPr dirty="0"/>
              <a:t>/</a:t>
            </a:r>
            <a:r>
              <a:rPr dirty="0" err="1"/>
              <a:t>Orta</a:t>
            </a:r>
            <a:r>
              <a:rPr dirty="0"/>
              <a:t> vs </a:t>
            </a:r>
            <a:r>
              <a:rPr dirty="0" err="1"/>
              <a:t>Hızlı</a:t>
            </a:r>
            <a:r>
              <a:rPr dirty="0"/>
              <a:t>)</a:t>
            </a:r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8" descr="cyclone_examples_class3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399" y="4727514"/>
            <a:ext cx="3731401" cy="14702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CNN MODEL MİMARİSİ VE PARAMETRELER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Input (128×128×3)</a:t>
            </a:r>
          </a:p>
          <a:p>
            <a:pPr algn="ctr">
              <a:defRPr sz="2000" b="1">
                <a:solidFill>
                  <a:srgbClr val="1A237E"/>
                </a:solidFill>
              </a:defRPr>
            </a:pPr>
            <a:r>
              <a:t>↓</a:t>
            </a:r>
          </a:p>
          <a:p>
            <a:pPr algn="ctr">
              <a:defRPr sz="1300" b="1"/>
            </a:pPr>
            <a:r>
              <a:t>Conv Block 1: 32 filters</a:t>
            </a:r>
          </a:p>
          <a:p>
            <a:pPr algn="ctr">
              <a:defRPr sz="2000" b="1">
                <a:solidFill>
                  <a:srgbClr val="1A237E"/>
                </a:solidFill>
              </a:defRPr>
            </a:pPr>
            <a:r>
              <a:t>↓</a:t>
            </a:r>
          </a:p>
          <a:p>
            <a:pPr algn="ctr">
              <a:defRPr sz="1300" b="1"/>
            </a:pPr>
            <a:r>
              <a:t>Conv Block 2: 64 filters</a:t>
            </a:r>
          </a:p>
          <a:p>
            <a:pPr algn="ctr">
              <a:defRPr sz="2000" b="1">
                <a:solidFill>
                  <a:srgbClr val="1A237E"/>
                </a:solidFill>
              </a:defRPr>
            </a:pPr>
            <a:r>
              <a:t>↓</a:t>
            </a:r>
          </a:p>
          <a:p>
            <a:pPr algn="ctr">
              <a:defRPr sz="1300" b="1"/>
            </a:pPr>
            <a:r>
              <a:t>Conv Block 3: 128 filters</a:t>
            </a:r>
          </a:p>
          <a:p>
            <a:pPr algn="ctr">
              <a:defRPr sz="2000" b="1">
                <a:solidFill>
                  <a:srgbClr val="1A237E"/>
                </a:solidFill>
              </a:defRPr>
            </a:pPr>
            <a:r>
              <a:t>↓</a:t>
            </a:r>
          </a:p>
          <a:p>
            <a:pPr algn="ctr">
              <a:defRPr sz="1300" b="1"/>
            </a:pPr>
            <a:r>
              <a:t>Flatten → Dense(256) → Dense(128)</a:t>
            </a:r>
          </a:p>
          <a:p>
            <a:pPr algn="ctr">
              <a:defRPr sz="2000" b="1">
                <a:solidFill>
                  <a:srgbClr val="1A237E"/>
                </a:solidFill>
              </a:defRPr>
            </a:pPr>
            <a:r>
              <a:t>↓</a:t>
            </a:r>
          </a:p>
          <a:p>
            <a:pPr algn="ctr">
              <a:defRPr sz="1300" b="1"/>
            </a:pPr>
            <a:r>
              <a:t>Output: Dense(4/2) +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⚙️ PARAMETRELER</a:t>
            </a:r>
          </a:p>
          <a:p>
            <a:pPr>
              <a:defRPr sz="1400"/>
            </a:pPr>
            <a:r>
              <a:t>Optimizer: Adam (lr=0.001)</a:t>
            </a:r>
          </a:p>
          <a:p>
            <a:pPr>
              <a:defRPr sz="1400"/>
            </a:pPr>
            <a:r>
              <a:t>Loss: Categorical Cross-Entropy</a:t>
            </a:r>
          </a:p>
          <a:p>
            <a:pPr>
              <a:defRPr sz="1400"/>
            </a:pPr>
            <a:r>
              <a:t>Batch Size: 32</a:t>
            </a:r>
          </a:p>
          <a:p>
            <a:pPr>
              <a:defRPr sz="1400"/>
            </a:pPr>
            <a:r>
              <a:t>Epochs: 30-50 (early stopping)</a:t>
            </a:r>
          </a:p>
          <a:p>
            <a:pPr>
              <a:defRPr sz="1400"/>
            </a:pPr>
            <a:r>
              <a:t>Data Aug: Rotation, Shift, Zoom, Flip</a:t>
            </a:r>
          </a:p>
          <a:p>
            <a:endParaRPr/>
          </a:p>
          <a:p>
            <a:pPr>
              <a:defRPr sz="1800" b="1">
                <a:solidFill>
                  <a:srgbClr val="FF6F00"/>
                </a:solidFill>
              </a:defRPr>
            </a:pPr>
            <a:r>
              <a:t>Toplam Parametre: ~1.2M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YAKLAŞIM 1: 4 SINIFLI SINIFLANDIRMA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828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Sınıf 0</a:t>
            </a:r>
          </a:p>
          <a:p>
            <a:pPr algn="ctr">
              <a:defRPr sz="2800" b="1">
                <a:solidFill>
                  <a:srgbClr val="FF6F00"/>
                </a:solidFill>
              </a:defRPr>
            </a:pPr>
            <a:r>
              <a:t>31 km/h</a:t>
            </a:r>
          </a:p>
          <a:p>
            <a:pPr algn="ctr">
              <a:defRPr sz="1400"/>
            </a:pPr>
            <a:r>
              <a:t>239 örnek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45920"/>
            <a:ext cx="1828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Sınıf 1</a:t>
            </a:r>
          </a:p>
          <a:p>
            <a:pPr algn="ctr">
              <a:defRPr sz="2800" b="1">
                <a:solidFill>
                  <a:srgbClr val="FF6F00"/>
                </a:solidFill>
              </a:defRPr>
            </a:pPr>
            <a:r>
              <a:t>10 km/h</a:t>
            </a:r>
          </a:p>
          <a:p>
            <a:pPr algn="ctr">
              <a:defRPr sz="1400"/>
            </a:pPr>
            <a:r>
              <a:t>239 örnek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645920"/>
            <a:ext cx="1828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Sınıf 2</a:t>
            </a:r>
          </a:p>
          <a:p>
            <a:pPr algn="ctr">
              <a:defRPr sz="2800" b="1">
                <a:solidFill>
                  <a:srgbClr val="FF6F00"/>
                </a:solidFill>
              </a:defRPr>
            </a:pPr>
            <a:r>
              <a:t>21 km/h</a:t>
            </a:r>
          </a:p>
          <a:p>
            <a:pPr algn="ctr">
              <a:defRPr sz="1400"/>
            </a:pPr>
            <a:r>
              <a:t>239 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0"/>
            <a:ext cx="1828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Sınıf 3</a:t>
            </a:r>
          </a:p>
          <a:p>
            <a:pPr algn="ctr">
              <a:defRPr sz="2800" b="1">
                <a:solidFill>
                  <a:srgbClr val="FF6F00"/>
                </a:solidFill>
              </a:defRPr>
            </a:pPr>
            <a:r>
              <a:t>40 km/h</a:t>
            </a:r>
          </a:p>
          <a:p>
            <a:pPr algn="ctr">
              <a:defRPr sz="1400"/>
            </a:pPr>
            <a:r>
              <a:t>239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📊 Veri Bölümü</a:t>
            </a:r>
          </a:p>
          <a:p>
            <a:pPr>
              <a:defRPr sz="1300"/>
            </a:pPr>
            <a:r>
              <a:t>Training: 764 görsel (80%)  |  Test: 192 görsel (20%)  |  Dengeli sınıf dağılımı</a:t>
            </a:r>
          </a:p>
          <a:p>
            <a:endParaRPr/>
          </a:p>
          <a:p>
            <a:pPr>
              <a:defRPr sz="1300"/>
            </a:pPr>
            <a:r>
              <a:t>🔄 Eğitim: 50 epoch hedef  |  Early stopping: 18. epoch'ta durdu</a:t>
            </a:r>
          </a:p>
        </p:txBody>
      </p:sp>
      <p:sp>
        <p:nvSpPr>
          <p:cNvPr id="8" name="Slayt Numarası Yer Tutucus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7" descr="cyclone_all_classes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02" y="779684"/>
            <a:ext cx="6400800" cy="50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1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32F2F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 SINIF SONUÇLARI: BAŞARISIZ 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32F2F"/>
                </a:solidFill>
              </a:defRPr>
            </a:pPr>
            <a:r>
              <a:t>Test Accuracy: 34.38%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📊 Sınıf Bazında Performans:</a:t>
            </a:r>
          </a:p>
          <a:p>
            <a:pPr>
              <a:defRPr sz="1400"/>
            </a:pPr>
            <a:r>
              <a:t>• Sınıf 0 (31 km/h): 0% ❌  (Hiç öğrenemedi!)</a:t>
            </a:r>
          </a:p>
          <a:p>
            <a:pPr>
              <a:defRPr sz="1400"/>
            </a:pPr>
            <a:r>
              <a:t>• Sınıf 1 (10 km/h): 48%</a:t>
            </a:r>
          </a:p>
          <a:p>
            <a:pPr>
              <a:defRPr sz="1400"/>
            </a:pPr>
            <a:r>
              <a:t>• Sınıf 2 (21 km/h): 2% ❌  (Neredeyse hiç!)</a:t>
            </a:r>
          </a:p>
          <a:p>
            <a:pPr>
              <a:defRPr sz="1400"/>
            </a:pPr>
            <a:r>
              <a:t>• Sınıf 3 (40 km/h): 88% ✅  (Tek başarılı)</a:t>
            </a:r>
          </a:p>
          <a:p>
            <a:endParaRPr/>
          </a:p>
          <a:p>
            <a:pPr>
              <a:defRPr sz="1300">
                <a:solidFill>
                  <a:srgbClr val="D32F2F"/>
                </a:solidFill>
              </a:defRPr>
            </a:pPr>
            <a:r>
              <a:t>⚠️ Sorunlar: Overfitting (Train 73%, Test 34%) | Bazı sınıflar öğrenilemedi | Sınıflar arası fark az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4" descr="comparison_confusion_matrix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3" y="867745"/>
            <a:ext cx="8689761" cy="481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BINARY SONUÇLARI: BAŞARILI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CAF50"/>
                </a:solidFill>
              </a:defRPr>
            </a:pPr>
            <a:r>
              <a:t>Test Accuracy: 65.10%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F00"/>
                </a:solidFill>
              </a:defRPr>
            </a:pPr>
            <a:r>
              <a:t>+30.72%</a:t>
            </a:r>
          </a:p>
          <a:p>
            <a:pPr algn="ctr">
              <a:defRPr sz="1400"/>
            </a:pPr>
            <a:r>
              <a:t>İyileşme ⬆️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📊 Sınıf Bazında Performans:</a:t>
            </a:r>
          </a:p>
          <a:p>
            <a:endParaRPr/>
          </a:p>
          <a:p>
            <a:pPr>
              <a:defRPr sz="1600" b="1">
                <a:solidFill>
                  <a:srgbClr val="1A237E"/>
                </a:solidFill>
              </a:defRPr>
            </a:pPr>
            <a:r>
              <a:t>Yavaş/Orta Siklonlar:</a:t>
            </a:r>
          </a:p>
          <a:p>
            <a:pPr>
              <a:defRPr sz="1400"/>
            </a:pPr>
            <a:r>
              <a:t>  • Recall: 61%  |  Precision: 66%</a:t>
            </a:r>
          </a:p>
          <a:p>
            <a:endParaRPr/>
          </a:p>
          <a:p>
            <a:pPr>
              <a:defRPr sz="1600" b="1">
                <a:solidFill>
                  <a:srgbClr val="FF6F00"/>
                </a:solidFill>
              </a:defRPr>
            </a:pPr>
            <a:r>
              <a:t>Hızlı Siklonlar:</a:t>
            </a:r>
          </a:p>
          <a:p>
            <a:pPr>
              <a:defRPr sz="1400"/>
            </a:pPr>
            <a:r>
              <a:t>  • Recall: 69%  |  Precision: 64%</a:t>
            </a:r>
          </a:p>
          <a:p>
            <a:endParaRPr/>
          </a:p>
          <a:p>
            <a:pPr algn="ctr">
              <a:defRPr sz="1600" b="1">
                <a:solidFill>
                  <a:srgbClr val="4CAF50"/>
                </a:solidFill>
              </a:defRPr>
            </a:pPr>
            <a:r>
              <a:t>✅ Dengeli Performans! Her iki sınıf da öğrenildi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>
          <a:xfrm>
            <a:off x="6252677" y="6002761"/>
            <a:ext cx="20574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5" descr="binary_confusion_matrix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49" y="465300"/>
            <a:ext cx="6404299" cy="605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9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AF50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YAKLAŞIM 2: BINARY SINIFLANDIRMA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</a:defRPr>
            </a:pPr>
            <a:r>
              <a:t>💡 Strateji Değişikliği: Problem Basitleştirildi!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4 SINIF</a:t>
            </a:r>
          </a:p>
          <a:p>
            <a:pPr algn="ctr">
              <a:defRPr sz="1200"/>
            </a:pPr>
            <a:r>
              <a:t>10 km/h</a:t>
            </a:r>
          </a:p>
          <a:p>
            <a:pPr algn="ctr">
              <a:defRPr sz="1200"/>
            </a:pPr>
            <a:r>
              <a:t>21 km/h</a:t>
            </a:r>
          </a:p>
          <a:p>
            <a:pPr algn="ctr">
              <a:defRPr sz="1200"/>
            </a:pPr>
            <a:r>
              <a:t>31 km/h</a:t>
            </a:r>
          </a:p>
          <a:p>
            <a:pPr algn="ctr">
              <a:defRPr sz="1200"/>
            </a:pPr>
            <a:r>
              <a:t>40 km/h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926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CAF50"/>
                </a:solidFill>
              </a:defRPr>
            </a:pPr>
            <a:r>
              <a:t>→</a:t>
            </a:r>
          </a:p>
          <a:p>
            <a:pPr algn="ctr">
              <a:defRPr sz="1200" b="1"/>
            </a:pPr>
            <a:r>
              <a:t>Birleştir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2 SINIF</a:t>
            </a:r>
          </a:p>
          <a:p>
            <a:pPr algn="ctr">
              <a:defRPr sz="1600" b="1"/>
            </a:pPr>
            <a:r>
              <a:t>Yavaş/Orta: 10-21 km/h</a:t>
            </a:r>
          </a:p>
          <a:p>
            <a:pPr algn="ctr">
              <a:defRPr sz="1600" b="1"/>
            </a:pPr>
            <a:r>
              <a:t>Hızlı: 31-40 km/h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✅ Avantajlar: Sınıflar arası fark belirgin | Daha az karmaşık | Pratik açıdan anlamlı</a:t>
            </a:r>
          </a:p>
          <a:p>
            <a:pPr algn="ctr">
              <a:defRPr sz="1300"/>
            </a:pPr>
            <a:r>
              <a:t>🔧 Model: Output Dense(2) + Softmax | Yoğun data augmentation | 30 epoch</a:t>
            </a:r>
          </a:p>
        </p:txBody>
      </p:sp>
      <p:sp>
        <p:nvSpPr>
          <p:cNvPr id="8" name="Slayt Numarası Yer Tutucusu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KARŞILAŞTIRMA VE ANALİZ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37E"/>
                </a:solidFill>
              </a:defRPr>
            </a:pPr>
            <a:r>
              <a:t>Metrik          | 4 Sınıf            | Binary             | İyileşme</a:t>
            </a:r>
          </a:p>
          <a:p>
            <a:pPr>
              <a:defRPr sz="1400" b="1"/>
            </a:pPr>
            <a:r>
              <a:t>Accuracy        | 34.38% ❌           | 65.10% ✅           | +30.72% ⬆️</a:t>
            </a:r>
          </a:p>
          <a:p>
            <a:pPr>
              <a:defRPr sz="1400"/>
            </a:pPr>
            <a:r>
              <a:t>Overfitting     | Şiddetli ❌         | Düşük ✅            | İyileşti ✅</a:t>
            </a:r>
          </a:p>
          <a:p>
            <a:pPr>
              <a:defRPr sz="1400"/>
            </a:pPr>
            <a:r>
              <a:t>Dengesizlik     | Var ❌              | Yok ✅              | Dengeli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✅ İşe Yaradı:</a:t>
            </a:r>
          </a:p>
          <a:p>
            <a:pPr>
              <a:defRPr sz="1300"/>
            </a:pPr>
            <a:r>
              <a:t>• Problem basitleştirme  • Data augmentation  • Sınıf sayısı azaltma  • Dengeli öğrenme</a:t>
            </a:r>
          </a:p>
          <a:p>
            <a:endParaRPr/>
          </a:p>
          <a:p>
            <a:pPr>
              <a:defRPr sz="1600" b="1">
                <a:solidFill>
                  <a:srgbClr val="FF6F00"/>
                </a:solidFill>
              </a:defRPr>
            </a:pPr>
            <a:r>
              <a:t>📌 Çıkarımlar:</a:t>
            </a:r>
          </a:p>
          <a:p>
            <a:pPr>
              <a:defRPr sz="1300"/>
            </a:pPr>
            <a:r>
              <a:t>• 4 sınıf için daha fazla veri lazım  • Sınıf benzerliği sorun yaratır  • Binary pratik ve etkili</a:t>
            </a:r>
          </a:p>
          <a:p>
            <a:endParaRPr/>
          </a:p>
          <a:p>
            <a:pPr algn="ctr">
              <a:defRPr sz="1600" b="1">
                <a:solidFill>
                  <a:srgbClr val="1A237E"/>
                </a:solidFill>
              </a:defRPr>
            </a:pPr>
            <a:r>
              <a:t>💡 Ana Mesaj: Binary classification siklon sınıflandırması için UYGUN ve BAŞARILI!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 dirty="0"/>
              <a:t>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1061" y="2743200"/>
            <a:ext cx="428187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4053" y="4572000"/>
            <a:ext cx="3015890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Aleyna Çelik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celikaleyna71@gmail.com</a:t>
            </a:r>
          </a:p>
          <a:p>
            <a:endParaRPr>
              <a:solidFill>
                <a:schemeClr val="accent1">
                  <a:lumMod val="50000"/>
                </a:schemeClr>
              </a:solidFill>
            </a:endParaR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Sorularınız için...</a:t>
            </a: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1787</TotalTime>
  <Words>584</Words>
  <Application>Microsoft Office PowerPoint</Application>
  <PresentationFormat>Ekran Gösterisi (4:3)</PresentationFormat>
  <Paragraphs>136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Aleyna çelik</dc:creator>
  <cp:keywords/>
  <dc:description>generated using python-pptx</dc:description>
  <cp:lastModifiedBy>ALEYNA</cp:lastModifiedBy>
  <cp:revision>8</cp:revision>
  <dcterms:created xsi:type="dcterms:W3CDTF">2013-01-27T09:14:16Z</dcterms:created>
  <dcterms:modified xsi:type="dcterms:W3CDTF">2025-12-23T19:42:46Z</dcterms:modified>
  <cp:category/>
</cp:coreProperties>
</file>